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2"/>
  </p:notesMasterIdLst>
  <p:sldIdLst>
    <p:sldId id="290" r:id="rId2"/>
    <p:sldId id="291" r:id="rId3"/>
    <p:sldId id="292" r:id="rId4"/>
    <p:sldId id="293" r:id="rId5"/>
    <p:sldId id="294" r:id="rId6"/>
    <p:sldId id="295" r:id="rId7"/>
    <p:sldId id="296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04" r:id="rId16"/>
    <p:sldId id="305" r:id="rId17"/>
    <p:sldId id="306" r:id="rId18"/>
    <p:sldId id="307" r:id="rId19"/>
    <p:sldId id="308" r:id="rId20"/>
    <p:sldId id="309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4A8541-794C-46EF-A040-DC026FB376C3}" v="1" dt="2026-09-29T07:04:34.780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lip Seervi" userId="c4d5dabe5c9dd32a" providerId="LiveId" clId="{2E9377B0-4237-473E-9E5A-AC407188E35D}"/>
    <pc:docChg chg="undo custSel modSld">
      <pc:chgData name="Dilip Seervi" userId="c4d5dabe5c9dd32a" providerId="LiveId" clId="{2E9377B0-4237-473E-9E5A-AC407188E35D}" dt="2026-09-29T07:12:39.996" v="246" actId="1076"/>
      <pc:docMkLst>
        <pc:docMk/>
      </pc:docMkLst>
      <pc:sldChg chg="addSp modSp mod">
        <pc:chgData name="Dilip Seervi" userId="c4d5dabe5c9dd32a" providerId="LiveId" clId="{2E9377B0-4237-473E-9E5A-AC407188E35D}" dt="2026-09-29T07:12:39.996" v="246" actId="1076"/>
        <pc:sldMkLst>
          <pc:docMk/>
          <pc:sldMk cId="952317876" sldId="291"/>
        </pc:sldMkLst>
        <pc:spChg chg="mod">
          <ac:chgData name="Dilip Seervi" userId="c4d5dabe5c9dd32a" providerId="LiveId" clId="{2E9377B0-4237-473E-9E5A-AC407188E35D}" dt="2026-09-29T07:12:07.351" v="234" actId="1076"/>
          <ac:spMkLst>
            <pc:docMk/>
            <pc:sldMk cId="952317876" sldId="291"/>
            <ac:spMk id="4" creationId="{A828B9EF-C084-F5D4-CA27-75AF7D995640}"/>
          </ac:spMkLst>
        </pc:spChg>
        <pc:graphicFrameChg chg="modGraphic">
          <ac:chgData name="Dilip Seervi" userId="c4d5dabe5c9dd32a" providerId="LiveId" clId="{2E9377B0-4237-473E-9E5A-AC407188E35D}" dt="2026-09-29T07:09:24.531" v="227" actId="20577"/>
          <ac:graphicFrameMkLst>
            <pc:docMk/>
            <pc:sldMk cId="952317876" sldId="291"/>
            <ac:graphicFrameMk id="96" creationId="{00000000-0000-0000-0000-000000000000}"/>
          </ac:graphicFrameMkLst>
        </pc:graphicFrameChg>
        <pc:picChg chg="add mod modCrop">
          <ac:chgData name="Dilip Seervi" userId="c4d5dabe5c9dd32a" providerId="LiveId" clId="{2E9377B0-4237-473E-9E5A-AC407188E35D}" dt="2026-09-29T07:12:39.996" v="246" actId="1076"/>
          <ac:picMkLst>
            <pc:docMk/>
            <pc:sldMk cId="952317876" sldId="291"/>
            <ac:picMk id="3" creationId="{15203942-DD98-5286-5689-92A031E6C4F1}"/>
          </ac:picMkLst>
        </pc:picChg>
      </pc:sldChg>
      <pc:sldChg chg="addSp modSp mod">
        <pc:chgData name="Dilip Seervi" userId="c4d5dabe5c9dd32a" providerId="LiveId" clId="{2E9377B0-4237-473E-9E5A-AC407188E35D}" dt="2026-09-29T06:22:38.311" v="103" actId="14100"/>
        <pc:sldMkLst>
          <pc:docMk/>
          <pc:sldMk cId="3114963633" sldId="295"/>
        </pc:sldMkLst>
        <pc:picChg chg="add mod modCrop">
          <ac:chgData name="Dilip Seervi" userId="c4d5dabe5c9dd32a" providerId="LiveId" clId="{2E9377B0-4237-473E-9E5A-AC407188E35D}" dt="2026-09-29T06:22:38.311" v="103" actId="14100"/>
          <ac:picMkLst>
            <pc:docMk/>
            <pc:sldMk cId="3114963633" sldId="295"/>
            <ac:picMk id="4" creationId="{60D862CF-8806-0273-77EE-ED361808FE9E}"/>
          </ac:picMkLst>
        </pc:picChg>
      </pc:sldChg>
      <pc:sldChg chg="addSp delSp modSp mod">
        <pc:chgData name="Dilip Seervi" userId="c4d5dabe5c9dd32a" providerId="LiveId" clId="{2E9377B0-4237-473E-9E5A-AC407188E35D}" dt="2026-09-29T06:43:10.441" v="172" actId="14100"/>
        <pc:sldMkLst>
          <pc:docMk/>
          <pc:sldMk cId="1316545553" sldId="296"/>
        </pc:sldMkLst>
        <pc:spChg chg="del">
          <ac:chgData name="Dilip Seervi" userId="c4d5dabe5c9dd32a" providerId="LiveId" clId="{2E9377B0-4237-473E-9E5A-AC407188E35D}" dt="2026-09-29T06:43:04.169" v="170" actId="21"/>
          <ac:spMkLst>
            <pc:docMk/>
            <pc:sldMk cId="1316545553" sldId="296"/>
            <ac:spMk id="3" creationId="{00000000-0000-0000-0000-000000000000}"/>
          </ac:spMkLst>
        </pc:spChg>
        <pc:picChg chg="add mod modCrop">
          <ac:chgData name="Dilip Seervi" userId="c4d5dabe5c9dd32a" providerId="LiveId" clId="{2E9377B0-4237-473E-9E5A-AC407188E35D}" dt="2026-09-29T06:43:10.441" v="172" actId="14100"/>
          <ac:picMkLst>
            <pc:docMk/>
            <pc:sldMk cId="1316545553" sldId="296"/>
            <ac:picMk id="5" creationId="{5F4DC00E-EBEC-E6C7-02B5-C31D1142306A}"/>
          </ac:picMkLst>
        </pc:picChg>
      </pc:sldChg>
      <pc:sldChg chg="addSp modSp mod">
        <pc:chgData name="Dilip Seervi" userId="c4d5dabe5c9dd32a" providerId="LiveId" clId="{2E9377B0-4237-473E-9E5A-AC407188E35D}" dt="2026-09-29T06:42:53.144" v="168" actId="1076"/>
        <pc:sldMkLst>
          <pc:docMk/>
          <pc:sldMk cId="232371894" sldId="297"/>
        </pc:sldMkLst>
        <pc:spChg chg="mod">
          <ac:chgData name="Dilip Seervi" userId="c4d5dabe5c9dd32a" providerId="LiveId" clId="{2E9377B0-4237-473E-9E5A-AC407188E35D}" dt="2026-09-29T06:28:36.949" v="115" actId="1076"/>
          <ac:spMkLst>
            <pc:docMk/>
            <pc:sldMk cId="232371894" sldId="297"/>
            <ac:spMk id="2" creationId="{00000000-0000-0000-0000-000000000000}"/>
          </ac:spMkLst>
        </pc:spChg>
        <pc:picChg chg="add mod modCrop">
          <ac:chgData name="Dilip Seervi" userId="c4d5dabe5c9dd32a" providerId="LiveId" clId="{2E9377B0-4237-473E-9E5A-AC407188E35D}" dt="2026-09-29T06:42:53.144" v="168" actId="1076"/>
          <ac:picMkLst>
            <pc:docMk/>
            <pc:sldMk cId="232371894" sldId="297"/>
            <ac:picMk id="4" creationId="{E5345095-29B6-B8A0-D2FD-DEE385029DAA}"/>
          </ac:picMkLst>
        </pc:picChg>
      </pc:sldChg>
      <pc:sldChg chg="addSp delSp modSp mod">
        <pc:chgData name="Dilip Seervi" userId="c4d5dabe5c9dd32a" providerId="LiveId" clId="{2E9377B0-4237-473E-9E5A-AC407188E35D}" dt="2026-09-29T06:43:26.205" v="179" actId="1076"/>
        <pc:sldMkLst>
          <pc:docMk/>
          <pc:sldMk cId="893417001" sldId="300"/>
        </pc:sldMkLst>
        <pc:spChg chg="del">
          <ac:chgData name="Dilip Seervi" userId="c4d5dabe5c9dd32a" providerId="LiveId" clId="{2E9377B0-4237-473E-9E5A-AC407188E35D}" dt="2026-09-29T06:35:36.113" v="131" actId="478"/>
          <ac:spMkLst>
            <pc:docMk/>
            <pc:sldMk cId="893417001" sldId="300"/>
            <ac:spMk id="14" creationId="{7B8E599E-5B1D-59CD-4F1D-CEF8D0CA327B}"/>
          </ac:spMkLst>
        </pc:spChg>
        <pc:spChg chg="del mod">
          <ac:chgData name="Dilip Seervi" userId="c4d5dabe5c9dd32a" providerId="LiveId" clId="{2E9377B0-4237-473E-9E5A-AC407188E35D}" dt="2026-09-29T06:35:41.402" v="133" actId="478"/>
          <ac:spMkLst>
            <pc:docMk/>
            <pc:sldMk cId="893417001" sldId="300"/>
            <ac:spMk id="15" creationId="{B22EA981-5113-2D05-C1A2-169306E1D47C}"/>
          </ac:spMkLst>
        </pc:spChg>
        <pc:spChg chg="del">
          <ac:chgData name="Dilip Seervi" userId="c4d5dabe5c9dd32a" providerId="LiveId" clId="{2E9377B0-4237-473E-9E5A-AC407188E35D}" dt="2026-09-29T06:43:19.306" v="174" actId="478"/>
          <ac:spMkLst>
            <pc:docMk/>
            <pc:sldMk cId="893417001" sldId="300"/>
            <ac:spMk id="283" creationId="{00000000-0000-0000-0000-000000000000}"/>
          </ac:spMkLst>
        </pc:spChg>
        <pc:spChg chg="del">
          <ac:chgData name="Dilip Seervi" userId="c4d5dabe5c9dd32a" providerId="LiveId" clId="{2E9377B0-4237-473E-9E5A-AC407188E35D}" dt="2026-09-29T06:43:23.831" v="177" actId="478"/>
          <ac:spMkLst>
            <pc:docMk/>
            <pc:sldMk cId="893417001" sldId="300"/>
            <ac:spMk id="284" creationId="{00000000-0000-0000-0000-000000000000}"/>
          </ac:spMkLst>
        </pc:spChg>
        <pc:picChg chg="add mod">
          <ac:chgData name="Dilip Seervi" userId="c4d5dabe5c9dd32a" providerId="LiveId" clId="{2E9377B0-4237-473E-9E5A-AC407188E35D}" dt="2026-09-29T06:43:20.727" v="175" actId="1076"/>
          <ac:picMkLst>
            <pc:docMk/>
            <pc:sldMk cId="893417001" sldId="300"/>
            <ac:picMk id="3" creationId="{A4519E4B-A573-9748-8120-A8B52AF1E3F7}"/>
          </ac:picMkLst>
        </pc:picChg>
        <pc:picChg chg="add mod">
          <ac:chgData name="Dilip Seervi" userId="c4d5dabe5c9dd32a" providerId="LiveId" clId="{2E9377B0-4237-473E-9E5A-AC407188E35D}" dt="2026-09-29T06:43:26.205" v="179" actId="1076"/>
          <ac:picMkLst>
            <pc:docMk/>
            <pc:sldMk cId="893417001" sldId="300"/>
            <ac:picMk id="6" creationId="{DC71F7B4-FF5A-63D7-D957-5B960BB16A77}"/>
          </ac:picMkLst>
        </pc:picChg>
      </pc:sldChg>
      <pc:sldChg chg="addSp delSp modSp mod">
        <pc:chgData name="Dilip Seervi" userId="c4d5dabe5c9dd32a" providerId="LiveId" clId="{2E9377B0-4237-473E-9E5A-AC407188E35D}" dt="2026-09-29T06:43:42.507" v="182" actId="1076"/>
        <pc:sldMkLst>
          <pc:docMk/>
          <pc:sldMk cId="1429961814" sldId="301"/>
        </pc:sldMkLst>
        <pc:spChg chg="del">
          <ac:chgData name="Dilip Seervi" userId="c4d5dabe5c9dd32a" providerId="LiveId" clId="{2E9377B0-4237-473E-9E5A-AC407188E35D}" dt="2026-09-29T06:43:40.804" v="181" actId="478"/>
          <ac:spMkLst>
            <pc:docMk/>
            <pc:sldMk cId="1429961814" sldId="301"/>
            <ac:spMk id="283" creationId="{00000000-0000-0000-0000-000000000000}"/>
          </ac:spMkLst>
        </pc:spChg>
        <pc:picChg chg="add mod modCrop">
          <ac:chgData name="Dilip Seervi" userId="c4d5dabe5c9dd32a" providerId="LiveId" clId="{2E9377B0-4237-473E-9E5A-AC407188E35D}" dt="2026-09-29T06:43:42.507" v="182" actId="1076"/>
          <ac:picMkLst>
            <pc:docMk/>
            <pc:sldMk cId="1429961814" sldId="301"/>
            <ac:picMk id="3" creationId="{3CB0837B-F1E2-428F-EF5A-7DD07CBA6CE1}"/>
          </ac:picMkLst>
        </pc:picChg>
      </pc:sldChg>
      <pc:sldChg chg="addSp delSp modSp mod">
        <pc:chgData name="Dilip Seervi" userId="c4d5dabe5c9dd32a" providerId="LiveId" clId="{2E9377B0-4237-473E-9E5A-AC407188E35D}" dt="2026-09-29T06:43:48.951" v="185" actId="1076"/>
        <pc:sldMkLst>
          <pc:docMk/>
          <pc:sldMk cId="3585092305" sldId="302"/>
        </pc:sldMkLst>
        <pc:spChg chg="del">
          <ac:chgData name="Dilip Seervi" userId="c4d5dabe5c9dd32a" providerId="LiveId" clId="{2E9377B0-4237-473E-9E5A-AC407188E35D}" dt="2026-09-29T06:43:46.751" v="184" actId="478"/>
          <ac:spMkLst>
            <pc:docMk/>
            <pc:sldMk cId="3585092305" sldId="302"/>
            <ac:spMk id="283" creationId="{00000000-0000-0000-0000-000000000000}"/>
          </ac:spMkLst>
        </pc:spChg>
        <pc:picChg chg="add mod modCrop">
          <ac:chgData name="Dilip Seervi" userId="c4d5dabe5c9dd32a" providerId="LiveId" clId="{2E9377B0-4237-473E-9E5A-AC407188E35D}" dt="2026-09-29T06:43:48.951" v="185" actId="1076"/>
          <ac:picMkLst>
            <pc:docMk/>
            <pc:sldMk cId="3585092305" sldId="302"/>
            <ac:picMk id="3" creationId="{DC789AEE-46F1-5190-861B-FC4AC9E65D35}"/>
          </ac:picMkLst>
        </pc:picChg>
      </pc:sldChg>
      <pc:sldChg chg="addSp delSp modSp mod">
        <pc:chgData name="Dilip Seervi" userId="c4d5dabe5c9dd32a" providerId="LiveId" clId="{2E9377B0-4237-473E-9E5A-AC407188E35D}" dt="2026-09-29T06:43:54.870" v="188" actId="1076"/>
        <pc:sldMkLst>
          <pc:docMk/>
          <pc:sldMk cId="2601907186" sldId="303"/>
        </pc:sldMkLst>
        <pc:spChg chg="del">
          <ac:chgData name="Dilip Seervi" userId="c4d5dabe5c9dd32a" providerId="LiveId" clId="{2E9377B0-4237-473E-9E5A-AC407188E35D}" dt="2026-09-29T06:43:53.050" v="187" actId="478"/>
          <ac:spMkLst>
            <pc:docMk/>
            <pc:sldMk cId="2601907186" sldId="303"/>
            <ac:spMk id="283" creationId="{00000000-0000-0000-0000-000000000000}"/>
          </ac:spMkLst>
        </pc:spChg>
        <pc:picChg chg="add mod modCrop">
          <ac:chgData name="Dilip Seervi" userId="c4d5dabe5c9dd32a" providerId="LiveId" clId="{2E9377B0-4237-473E-9E5A-AC407188E35D}" dt="2026-09-29T06:43:54.870" v="188" actId="1076"/>
          <ac:picMkLst>
            <pc:docMk/>
            <pc:sldMk cId="2601907186" sldId="303"/>
            <ac:picMk id="3" creationId="{C28C4213-D4B2-A93F-B253-5FAD2B5086CA}"/>
          </ac:picMkLst>
        </pc:picChg>
      </pc:sldChg>
      <pc:sldChg chg="modSp mod">
        <pc:chgData name="Dilip Seervi" userId="c4d5dabe5c9dd32a" providerId="LiveId" clId="{2E9377B0-4237-473E-9E5A-AC407188E35D}" dt="2026-09-29T07:04:41.120" v="192" actId="20577"/>
        <pc:sldMkLst>
          <pc:docMk/>
          <pc:sldMk cId="4040412275" sldId="305"/>
        </pc:sldMkLst>
        <pc:spChg chg="mod">
          <ac:chgData name="Dilip Seervi" userId="c4d5dabe5c9dd32a" providerId="LiveId" clId="{2E9377B0-4237-473E-9E5A-AC407188E35D}" dt="2026-09-29T07:04:41.120" v="192" actId="20577"/>
          <ac:spMkLst>
            <pc:docMk/>
            <pc:sldMk cId="4040412275" sldId="305"/>
            <ac:spMk id="279" creationId="{3711AF54-94A6-B837-31EF-9A8C4ECB9AF6}"/>
          </ac:spMkLst>
        </pc:spChg>
      </pc:sldChg>
      <pc:sldChg chg="addSp delSp modSp mod">
        <pc:chgData name="Dilip Seervi" userId="c4d5dabe5c9dd32a" providerId="LiveId" clId="{2E9377B0-4237-473E-9E5A-AC407188E35D}" dt="2026-09-29T07:06:47.394" v="207" actId="732"/>
        <pc:sldMkLst>
          <pc:docMk/>
          <pc:sldMk cId="2833482715" sldId="307"/>
        </pc:sldMkLst>
        <pc:spChg chg="del mod">
          <ac:chgData name="Dilip Seervi" userId="c4d5dabe5c9dd32a" providerId="LiveId" clId="{2E9377B0-4237-473E-9E5A-AC407188E35D}" dt="2026-09-29T07:06:19.463" v="197" actId="478"/>
          <ac:spMkLst>
            <pc:docMk/>
            <pc:sldMk cId="2833482715" sldId="307"/>
            <ac:spMk id="7" creationId="{00000000-0000-0000-0000-000000000000}"/>
          </ac:spMkLst>
        </pc:spChg>
        <pc:picChg chg="add mod modCrop">
          <ac:chgData name="Dilip Seervi" userId="c4d5dabe5c9dd32a" providerId="LiveId" clId="{2E9377B0-4237-473E-9E5A-AC407188E35D}" dt="2026-09-29T07:06:47.394" v="207" actId="732"/>
          <ac:picMkLst>
            <pc:docMk/>
            <pc:sldMk cId="2833482715" sldId="307"/>
            <ac:picMk id="4" creationId="{BEB39675-5833-4632-A1CE-253A878BD918}"/>
          </ac:picMkLst>
        </pc:picChg>
      </pc:sldChg>
      <pc:sldChg chg="addSp delSp modSp mod">
        <pc:chgData name="Dilip Seervi" userId="c4d5dabe5c9dd32a" providerId="LiveId" clId="{2E9377B0-4237-473E-9E5A-AC407188E35D}" dt="2026-09-29T07:09:08.064" v="216" actId="14100"/>
        <pc:sldMkLst>
          <pc:docMk/>
          <pc:sldMk cId="4175177701" sldId="308"/>
        </pc:sldMkLst>
        <pc:spChg chg="del">
          <ac:chgData name="Dilip Seervi" userId="c4d5dabe5c9dd32a" providerId="LiveId" clId="{2E9377B0-4237-473E-9E5A-AC407188E35D}" dt="2026-09-29T07:07:34.973" v="209" actId="478"/>
          <ac:spMkLst>
            <pc:docMk/>
            <pc:sldMk cId="4175177701" sldId="308"/>
            <ac:spMk id="7" creationId="{00000000-0000-0000-0000-000000000000}"/>
          </ac:spMkLst>
        </pc:spChg>
        <pc:picChg chg="add del mod">
          <ac:chgData name="Dilip Seervi" userId="c4d5dabe5c9dd32a" providerId="LiveId" clId="{2E9377B0-4237-473E-9E5A-AC407188E35D}" dt="2026-09-29T07:07:52.180" v="214" actId="21"/>
          <ac:picMkLst>
            <pc:docMk/>
            <pc:sldMk cId="4175177701" sldId="308"/>
            <ac:picMk id="3" creationId="{B020881F-6534-EA86-5BF3-AF63D022A418}"/>
          </ac:picMkLst>
        </pc:picChg>
        <pc:picChg chg="add mod">
          <ac:chgData name="Dilip Seervi" userId="c4d5dabe5c9dd32a" providerId="LiveId" clId="{2E9377B0-4237-473E-9E5A-AC407188E35D}" dt="2026-09-29T07:09:08.064" v="216" actId="14100"/>
          <ac:picMkLst>
            <pc:docMk/>
            <pc:sldMk cId="4175177701" sldId="308"/>
            <ac:picMk id="8" creationId="{037C4AA6-D701-B919-6D1E-B280AC420D0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8E9CB32A-B328-07DF-4F33-E0118C92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BD392DC-EA03-14B5-7A53-AC36124B4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90BE8D5-07EC-73D0-0A62-4778024FF0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42077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F18774C-544B-0071-4FA9-86D0ADEC5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68645894-EE59-A5F4-D411-C82EB564E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EE489F0-0910-6D8B-0254-C25DB0882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73585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BB47F127-39C9-4CE0-52A6-66BD53AE9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57CB72F8-8B0E-1466-D091-917F3E7559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1CEA3A31-DD75-5F0D-19FB-8192F5E7F9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58712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br>
              <a:rPr lang="en-US" b="1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/>
              <a:t>“Exploring the Power of Agentic AI with IBM Granite and IBM Bob”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559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2642656468"/>
              </p:ext>
            </p:extLst>
          </p:nvPr>
        </p:nvGraphicFramePr>
        <p:xfrm>
          <a:off x="1299257" y="2600315"/>
          <a:ext cx="9394989" cy="2221679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277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dirty="0"/>
                        <a:t>Dilip Seervi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dirty="0"/>
                        <a:t>seervidilip1234@gmail.com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1" dirty="0"/>
                        <a:t>8792884966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50096" y="1226122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Sports Analytics, Artificial Intelligence &amp; Machine Learning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Project Title – AI-Powered IPL Game Strategy Advisor</a:t>
            </a:r>
            <a:endParaRPr lang="en-IN" sz="2400" b="1">
              <a:highlight>
                <a:srgbClr val="FFFF00"/>
              </a:highligh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203942-DD98-5286-5689-92A031E6C4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361" t="22643" r="5396" b="22140"/>
          <a:stretch>
            <a:fillRect/>
          </a:stretch>
        </p:blipFill>
        <p:spPr>
          <a:xfrm>
            <a:off x="3903407" y="3711154"/>
            <a:ext cx="1494503" cy="1006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317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234440"/>
            <a:ext cx="10607040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b="1"/>
              <a:t>Problem Statement : AI Game Strategy Advisor Agent</a:t>
            </a:r>
            <a:r>
              <a:rPr lang="en-US" b="0"/>
              <a:t> </a:t>
            </a:r>
          </a:p>
          <a:p>
            <a:pPr fontAlgn="base"/>
            <a:endParaRPr lang="en-US" b="1"/>
          </a:p>
          <a:p>
            <a:pPr fontAlgn="base"/>
            <a:r>
              <a:rPr lang="en-US" b="1"/>
              <a:t>The Challenge</a:t>
            </a:r>
            <a:r>
              <a:rPr lang="en-US" b="0"/>
              <a:t> </a:t>
            </a:r>
          </a:p>
          <a:p>
            <a:pPr fontAlgn="base"/>
            <a:r>
              <a:rPr lang="en-US"/>
              <a:t>IPL teams have access to large amounts of historical match and ball-by-ball data, but extracting useful tactical insights from it is time-consuming. Manually analyzing </a:t>
            </a:r>
            <a:r>
              <a:rPr lang="en-US" b="1"/>
              <a:t>opponent performance, batting and bowling patterns, match phases, and chasing versus defending trends</a:t>
            </a:r>
            <a:r>
              <a:rPr lang="en-US"/>
              <a:t> makes </a:t>
            </a:r>
            <a:r>
              <a:rPr lang="en-US" b="1"/>
              <a:t>strategic preparation difficult</a:t>
            </a:r>
            <a:r>
              <a:rPr lang="en-US"/>
              <a:t>. </a:t>
            </a:r>
          </a:p>
          <a:p>
            <a:pPr fontAlgn="base"/>
            <a:endParaRPr lang="en-US"/>
          </a:p>
          <a:p>
            <a:pPr fontAlgn="base"/>
            <a:r>
              <a:rPr lang="en-US" b="1"/>
              <a:t>The Objective</a:t>
            </a:r>
            <a:r>
              <a:rPr lang="en-US" b="0"/>
              <a:t> </a:t>
            </a:r>
          </a:p>
          <a:p>
            <a:pPr fontAlgn="base"/>
            <a:r>
              <a:rPr lang="en-US"/>
              <a:t>Build an </a:t>
            </a:r>
            <a:r>
              <a:rPr lang="en-US" b="1"/>
              <a:t>AI-powered multi-agent IPL Game Strategy Advisor</a:t>
            </a:r>
            <a:r>
              <a:rPr lang="en-US"/>
              <a:t> that uses Agentic AI, RAG and real IPL data to generate </a:t>
            </a:r>
            <a:r>
              <a:rPr lang="en-US" b="1"/>
              <a:t>data-driven, understandable tactical recommendations</a:t>
            </a:r>
            <a:r>
              <a:rPr lang="en-US"/>
              <a:t>. The solution should: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/>
              <a:t>Match Data Analysis</a:t>
            </a:r>
            <a:r>
              <a:rPr lang="en-US" b="0"/>
              <a:t> – Analyze historical IPL match and ball-by-ball data to identify tactical patterns.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/>
              <a:t>Opponent Strategy Analysis</a:t>
            </a:r>
            <a:r>
              <a:rPr lang="en-US" b="0"/>
              <a:t> – Identify opponent strengths, weaknesses and historical performance trends.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/>
              <a:t>Tactical Recommendation Engine</a:t>
            </a:r>
            <a:r>
              <a:rPr lang="en-US" b="0"/>
              <a:t> – Generate data-driven batting, bowling, chasing and defending recommendations.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/>
              <a:t>Strategic Insights</a:t>
            </a:r>
            <a:r>
              <a:rPr lang="en-US" b="0"/>
              <a:t> – Provide situation-aware strategic insights.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/>
              <a:t>Multi-Agent System</a:t>
            </a:r>
            <a:r>
              <a:rPr lang="en-US" b="0"/>
              <a:t> –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/>
              <a:t>Match Analysis Agent</a:t>
            </a:r>
            <a:r>
              <a:rPr lang="en-US" b="0"/>
              <a:t> (retrieves historical data using RAG)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/>
              <a:t>Opponent Strategy Agent</a:t>
            </a:r>
            <a:r>
              <a:rPr lang="en-US" b="0"/>
              <a:t> (opponent strengths, weaknesses, trends)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/>
              <a:t>Strategy Recommendation Agent</a:t>
            </a:r>
            <a:r>
              <a:rPr lang="en-US" b="0"/>
              <a:t> (tactical recommendations)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/>
              <a:t>Insight Explanation Agent</a:t>
            </a:r>
            <a:r>
              <a:rPr lang="en-US" b="0"/>
              <a:t> (explains the recommendation and evidence)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/>
              <a:t>Visualization Dashboard</a:t>
            </a:r>
            <a:r>
              <a:rPr lang="en-US" b="0"/>
              <a:t> – Display team statistics, opponent analysis, recommendations, match history and simulations.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Problem Statement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261653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234440"/>
            <a:ext cx="1060704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/>
          </a:p>
          <a:p>
            <a:r>
              <a:rPr lang="en-US" b="1"/>
              <a:t>Proposed Solution: AI-Powered IPL Game Strategy Advisor</a:t>
            </a:r>
          </a:p>
          <a:p>
            <a:r>
              <a:rPr lang="en-US"/>
              <a:t>The proposed solution is a </a:t>
            </a:r>
            <a:r>
              <a:rPr lang="en-US" b="1"/>
              <a:t>multi-agent AI system</a:t>
            </a:r>
            <a:r>
              <a:rPr lang="en-US"/>
              <a:t> built using </a:t>
            </a:r>
            <a:r>
              <a:rPr lang="en-US" b="1"/>
              <a:t>IBM Bob, IBM watsonx.ai, and IBM Granite Models</a:t>
            </a:r>
            <a:r>
              <a:rPr lang="en-US"/>
              <a:t> to provide data-driven cricket strategy recommendations from real IPL data. It addresses the difficulty of manually analyzing opponents, match phases and tactical trends.</a:t>
            </a:r>
          </a:p>
          <a:p>
            <a:r>
              <a:rPr lang="en-US"/>
              <a:t>At its core, the solution uses a </a:t>
            </a:r>
            <a:r>
              <a:rPr lang="en-US" b="1"/>
              <a:t>Retrieval-Augmented Generation (RAG)</a:t>
            </a:r>
            <a:r>
              <a:rPr lang="en-US"/>
              <a:t> pipeline that retrieves relevant historical evidence from </a:t>
            </a:r>
            <a:r>
              <a:rPr lang="en-US" b="1"/>
              <a:t>real IPL ball-by-ball data sourced from Cricsheet</a:t>
            </a:r>
            <a:r>
              <a:rPr lang="en-US"/>
              <a:t> before generating insights, grounding recommendations in actual match history rather than in the language model alone.</a:t>
            </a:r>
          </a:p>
          <a:p>
            <a:r>
              <a:rPr lang="en-US"/>
              <a:t>The system consists of four key agents:</a:t>
            </a:r>
          </a:p>
          <a:p>
            <a:r>
              <a:rPr lang="en-US" b="1"/>
              <a:t>Match Analysis Agent</a:t>
            </a:r>
            <a:r>
              <a:rPr lang="en-US" b="0"/>
              <a:t> retrieves and analyzes relevant historical IPL match data using RAG.</a:t>
            </a:r>
          </a:p>
          <a:p>
            <a:r>
              <a:rPr lang="en-US" b="1"/>
              <a:t>Opponent Strategy Agent</a:t>
            </a:r>
            <a:r>
              <a:rPr lang="en-US" b="0"/>
              <a:t> analyzes the selected opponent’s strengths, weaknesses, trends and matchup patterns.</a:t>
            </a:r>
          </a:p>
          <a:p>
            <a:r>
              <a:rPr lang="en-US" b="1"/>
              <a:t>Strategy Recommendation Agent</a:t>
            </a:r>
            <a:r>
              <a:rPr lang="en-US" b="0"/>
              <a:t> generates batting, bowling, chasing and defending recommendations from historical evidence and opponent analysis.</a:t>
            </a:r>
          </a:p>
          <a:p>
            <a:r>
              <a:rPr lang="en-US" b="1"/>
              <a:t>Insight Explanation Agent</a:t>
            </a:r>
            <a:r>
              <a:rPr lang="en-US" b="0"/>
              <a:t> explains each recommendation and the supporting historical evidence.</a:t>
            </a:r>
          </a:p>
          <a:p>
            <a:r>
              <a:rPr lang="en-US"/>
              <a:t>The solution includes a </a:t>
            </a:r>
            <a:r>
              <a:rPr lang="en-US" b="1"/>
              <a:t>web-based dashboard</a:t>
            </a:r>
            <a:r>
              <a:rPr lang="en-US"/>
              <a:t> (HTML/CSS/JavaScript with a Flask backend) covering IPL overview, team and opponent analysis, recommendations, match history, a </a:t>
            </a:r>
            <a:r>
              <a:rPr lang="en-US" b="1"/>
              <a:t>What-If simulator</a:t>
            </a:r>
            <a:r>
              <a:rPr lang="en-US"/>
              <a:t> and a </a:t>
            </a:r>
            <a:r>
              <a:rPr lang="en-US" b="1"/>
              <a:t>Live Event / situation engine</a:t>
            </a:r>
            <a:r>
              <a:rPr lang="en-US"/>
              <a:t>.</a:t>
            </a:r>
          </a:p>
          <a:p>
            <a:r>
              <a:rPr lang="en-US"/>
              <a:t>IBM Bob is used to develop and orchestrate the agent workflow, while watsonx.ai and Granite models support reasoning and generation, with a rule-based fallback when model services are unavailable.</a:t>
            </a:r>
          </a:p>
          <a:p>
            <a:r>
              <a:rPr lang="en-US"/>
              <a:t>Overall, this solution delivers an </a:t>
            </a:r>
            <a:r>
              <a:rPr lang="en-US" b="1"/>
              <a:t>explainable, opponent-specific cricket strategy assistant</a:t>
            </a:r>
            <a:r>
              <a:rPr lang="en-US"/>
              <a:t> that turns real historical evidence into tactical insights.</a:t>
            </a:r>
          </a:p>
          <a:p>
            <a:pPr fontAlgn="base"/>
            <a:endParaRPr lang="en-US"/>
          </a:p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Proposed Solution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619459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/>
              <a:t>Technology Used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/>
              <a:t>IBM Bob platform </a:t>
            </a:r>
            <a:r>
              <a:rPr lang="en-US" sz="1800" b="0"/>
              <a:t>- For developing and orchestrating the multi-agent AI workflow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/>
              <a:t>IBM Granite models </a:t>
            </a:r>
            <a:r>
              <a:rPr lang="en-US" sz="1800" b="0"/>
              <a:t>- For natural language understanding, reasoning and generation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/>
              <a:t>IBM watsonx.ai </a:t>
            </a:r>
            <a:r>
              <a:rPr lang="en-US" sz="1800" b="0"/>
              <a:t>- IBM AI/model platform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/>
              <a:t>RAG </a:t>
            </a:r>
            <a:r>
              <a:rPr lang="en-US" sz="1800" b="0"/>
              <a:t>– Retrieves relevant historical IPL evidence before generating recommendations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/>
              <a:t>Cricsheet </a:t>
            </a:r>
            <a:r>
              <a:rPr lang="en-US" sz="1800" b="0"/>
              <a:t>– Source of the real IPL ball-by-ball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/>
              <a:t>Python &amp; Flask </a:t>
            </a:r>
            <a:r>
              <a:rPr lang="en-US" sz="1800" b="0"/>
              <a:t>– Data processing, backend logic and REST API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/>
              <a:t>HTML / CSS / JavaScript </a:t>
            </a:r>
            <a:r>
              <a:rPr lang="en-US" sz="1800" b="0"/>
              <a:t>– Visualization dashboard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603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Required Files created using IBM bob -</a:t>
            </a:r>
            <a:endParaRPr sz="2400" b="1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474822" y="863187"/>
            <a:ext cx="3450000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Backend files (Flask API, agents)</a:t>
            </a:r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Frontend files (HTML/CSS/JS)</a:t>
            </a:r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backend/data/</a:t>
            </a:r>
            <a:r>
              <a:rPr lang="en-US" sz="1800" dirty="0" err="1"/>
              <a:t>ipl_match_data.json</a:t>
            </a:r>
            <a:endParaRPr lang="en-US" sz="1800" dirty="0"/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Raw </a:t>
            </a:r>
            <a:r>
              <a:rPr lang="en-US" sz="1800" dirty="0" err="1"/>
              <a:t>Cricsheet</a:t>
            </a:r>
            <a:r>
              <a:rPr lang="en-US" sz="1800" dirty="0"/>
              <a:t> IPL archive</a:t>
            </a:r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README and project documents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154" name="Rectangle 153"/>
          <p:cNvSpPr/>
          <p:nvPr/>
        </p:nvSpPr>
        <p:spPr>
          <a:xfrm>
            <a:off x="4014215" y="1860506"/>
            <a:ext cx="7868367" cy="4512862"/>
          </a:xfrm>
          <a:prstGeom prst="rect">
            <a:avLst/>
          </a:prstGeom>
          <a:solidFill>
            <a:srgbClr val="FFFFFF"/>
          </a:solidFill>
          <a:ln w="19050"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i="1" dirty="0">
                <a:solidFill>
                  <a:srgbClr val="595959"/>
                </a:solidFill>
                <a:latin typeface="Arial"/>
              </a:rPr>
              <a:t>[Insert IBM Bob project files screenshot here]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D862CF-8806-0273-77EE-ED361808FE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838"/>
          <a:stretch>
            <a:fillRect/>
          </a:stretch>
        </p:blipFill>
        <p:spPr>
          <a:xfrm>
            <a:off x="4014215" y="1860506"/>
            <a:ext cx="7868367" cy="4512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963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sz="2400" b="1"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4DC00E-EBEC-E6C7-02B5-C31D114230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451"/>
          <a:stretch>
            <a:fillRect/>
          </a:stretch>
        </p:blipFill>
        <p:spPr>
          <a:xfrm>
            <a:off x="1032388" y="1120878"/>
            <a:ext cx="9556952" cy="5572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545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8173" y="400546"/>
            <a:ext cx="11145396" cy="5716790"/>
          </a:xfrm>
          <a:prstGeom prst="rect">
            <a:avLst/>
          </a:prstGeom>
          <a:solidFill>
            <a:srgbClr val="FFFFFF"/>
          </a:solidFill>
          <a:ln w="19050"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i="1">
                <a:solidFill>
                  <a:srgbClr val="595959"/>
                </a:solidFill>
                <a:latin typeface="Arial"/>
              </a:rPr>
              <a:t>[Insert IBM Bob prompt / workflow screenshot here]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345095-29B6-B8A0-D2FD-DEE385029D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329"/>
          <a:stretch>
            <a:fillRect/>
          </a:stretch>
        </p:blipFill>
        <p:spPr>
          <a:xfrm>
            <a:off x="9832" y="299431"/>
            <a:ext cx="11356258" cy="5919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71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 for IBM bob:</a:t>
            </a:r>
            <a:endParaRPr lang="en-US" sz="2400"/>
          </a:p>
        </p:txBody>
      </p:sp>
      <p:sp>
        <p:nvSpPr>
          <p:cNvPr id="3" name="Rectangle 2"/>
          <p:cNvSpPr/>
          <p:nvPr/>
        </p:nvSpPr>
        <p:spPr>
          <a:xfrm>
            <a:off x="620000" y="2550000"/>
            <a:ext cx="1350000" cy="1100000"/>
          </a:xfrm>
          <a:prstGeom prst="rect">
            <a:avLst/>
          </a:prstGeom>
          <a:solidFill>
            <a:srgbClr val="5B9BD5"/>
          </a:solidFill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rIns="40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User</a:t>
            </a:r>
          </a:p>
        </p:txBody>
      </p:sp>
      <p:sp>
        <p:nvSpPr>
          <p:cNvPr id="4" name="Rectangle 3"/>
          <p:cNvSpPr/>
          <p:nvPr/>
        </p:nvSpPr>
        <p:spPr>
          <a:xfrm>
            <a:off x="2290000" y="2550000"/>
            <a:ext cx="1350000" cy="1100000"/>
          </a:xfrm>
          <a:prstGeom prst="rect">
            <a:avLst/>
          </a:prstGeom>
          <a:solidFill>
            <a:srgbClr val="5B9BD5"/>
          </a:solidFill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rIns="40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IPL Strategy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3960000" y="2550000"/>
            <a:ext cx="1350000" cy="1100000"/>
          </a:xfrm>
          <a:prstGeom prst="rect">
            <a:avLst/>
          </a:prstGeom>
          <a:solidFill>
            <a:srgbClr val="5B9BD5"/>
          </a:solidFill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rIns="40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Flask Backend /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5630000" y="1250000"/>
            <a:ext cx="2600000" cy="3700000"/>
          </a:xfrm>
          <a:prstGeom prst="rect">
            <a:avLst/>
          </a:prstGeom>
          <a:noFill/>
          <a:ln w="15875">
            <a:solidFill>
              <a:srgbClr val="00206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rIns="40000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30000" y="1280000"/>
            <a:ext cx="2600000" cy="350000"/>
          </a:xfrm>
          <a:prstGeom prst="rect">
            <a:avLst/>
          </a:prstGeom>
          <a:noFill/>
          <a:ln w="158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rIns="40000" rtlCol="0" anchor="ctr"/>
          <a:lstStyle/>
          <a:p>
            <a:pPr algn="ctr"/>
            <a:r>
              <a:rPr sz="1400" b="1">
                <a:solidFill>
                  <a:srgbClr val="002060"/>
                </a:solidFill>
                <a:latin typeface="Arial"/>
              </a:rPr>
              <a:t>Multi-Agent 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5730000" y="1720000"/>
            <a:ext cx="2400000" cy="680000"/>
          </a:xfrm>
          <a:prstGeom prst="rect">
            <a:avLst/>
          </a:prstGeom>
          <a:solidFill>
            <a:srgbClr val="002060"/>
          </a:solidFill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rIns="400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Match Analysis Agent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730000" y="2520000"/>
            <a:ext cx="2400000" cy="680000"/>
          </a:xfrm>
          <a:prstGeom prst="rect">
            <a:avLst/>
          </a:prstGeom>
          <a:solidFill>
            <a:srgbClr val="002060"/>
          </a:solidFill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rIns="400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Opponent Strategy Agent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30000" y="3320000"/>
            <a:ext cx="2400000" cy="680000"/>
          </a:xfrm>
          <a:prstGeom prst="rect">
            <a:avLst/>
          </a:prstGeom>
          <a:solidFill>
            <a:srgbClr val="002060"/>
          </a:solidFill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rIns="400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Strategy Recommendation Agent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30000" y="4120000"/>
            <a:ext cx="2400000" cy="680000"/>
          </a:xfrm>
          <a:prstGeom prst="rect">
            <a:avLst/>
          </a:prstGeom>
          <a:solidFill>
            <a:srgbClr val="002060"/>
          </a:solidFill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rIns="400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Insight Explanation Agent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50000" y="2550000"/>
            <a:ext cx="1350000" cy="1100000"/>
          </a:xfrm>
          <a:prstGeom prst="rect">
            <a:avLst/>
          </a:prstGeom>
          <a:solidFill>
            <a:srgbClr val="5B9BD5"/>
          </a:solidFill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rIns="400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RAG / Real IPL Historical 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220000" y="2550000"/>
            <a:ext cx="1350000" cy="1100000"/>
          </a:xfrm>
          <a:prstGeom prst="rect">
            <a:avLst/>
          </a:prstGeom>
          <a:solidFill>
            <a:srgbClr val="5B9BD5"/>
          </a:solidFill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rIns="40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Cricsheet IPL Dataset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970000" y="3100000"/>
            <a:ext cx="320000" cy="0"/>
          </a:xfrm>
          <a:prstGeom prst="line">
            <a:avLst/>
          </a:prstGeom>
          <a:ln w="254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640000" y="3100000"/>
            <a:ext cx="320000" cy="0"/>
          </a:xfrm>
          <a:prstGeom prst="line">
            <a:avLst/>
          </a:prstGeom>
          <a:ln w="254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10000" y="3100000"/>
            <a:ext cx="320000" cy="0"/>
          </a:xfrm>
          <a:prstGeom prst="line">
            <a:avLst/>
          </a:prstGeom>
          <a:ln w="254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230000" y="3100000"/>
            <a:ext cx="320000" cy="0"/>
          </a:xfrm>
          <a:prstGeom prst="line">
            <a:avLst/>
          </a:prstGeom>
          <a:ln w="254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900000" y="3100000"/>
            <a:ext cx="320000" cy="0"/>
          </a:xfrm>
          <a:prstGeom prst="line">
            <a:avLst/>
          </a:prstGeom>
          <a:ln w="25400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20000" y="5250000"/>
            <a:ext cx="10950000" cy="560000"/>
          </a:xfrm>
          <a:prstGeom prst="rect">
            <a:avLst/>
          </a:prstGeom>
          <a:noFill/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rIns="40000" rtlCol="0" anchor="ctr"/>
          <a:lstStyle/>
          <a:p>
            <a:pPr algn="ctr"/>
            <a:r>
              <a:rPr sz="1400" b="1">
                <a:solidFill>
                  <a:srgbClr val="002060"/>
                </a:solidFill>
                <a:latin typeface="Arial"/>
              </a:rPr>
              <a:t>Output: Strategic Recommendation &amp; Explanation shown on the IPL Strategy Dashboard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0000" y="5950000"/>
            <a:ext cx="10950000" cy="560000"/>
          </a:xfrm>
          <a:prstGeom prst="rect">
            <a:avLst/>
          </a:prstGeom>
          <a:noFill/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rIns="40000" rtlCol="0" anchor="ctr"/>
          <a:lstStyle/>
          <a:p>
            <a:pPr algn="ctr"/>
            <a:r>
              <a:rPr sz="1400" b="1">
                <a:solidFill>
                  <a:srgbClr val="002060"/>
                </a:solidFill>
                <a:latin typeface="Arial"/>
              </a:rPr>
              <a:t>AI layer: IBM watsonx.ai + IBM Granite models   |   Built and orchestrated with IBM Bob</a:t>
            </a:r>
          </a:p>
        </p:txBody>
      </p:sp>
    </p:spTree>
    <p:extLst>
      <p:ext uri="{BB962C8B-B14F-4D97-AF65-F5344CB8AC3E}">
        <p14:creationId xmlns:p14="http://schemas.microsoft.com/office/powerpoint/2010/main" val="445195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Role of Agentic AI in the solution </a:t>
            </a:r>
            <a:endParaRPr lang="en-IN" sz="32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1167493"/>
            <a:ext cx="740664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Role of Agentic AI in IPL Game Strategy Advisor</a:t>
            </a:r>
          </a:p>
          <a:p>
            <a:r>
              <a:rPr lang="en-US" b="1"/>
              <a:t>Agentic AI</a:t>
            </a:r>
            <a:r>
              <a:rPr lang="en-US" b="0"/>
              <a:t> lets the system work as a coordinated decision-support system rather than a simple chatbot. Using </a:t>
            </a:r>
            <a:r>
              <a:rPr lang="en-US" b="1"/>
              <a:t>IBM watsonx.ai</a:t>
            </a:r>
            <a:r>
              <a:rPr lang="en-US" b="0"/>
              <a:t> and </a:t>
            </a:r>
            <a:r>
              <a:rPr lang="en-US" b="1"/>
              <a:t>IBM Granite models</a:t>
            </a:r>
            <a:r>
              <a:rPr lang="en-US" b="0"/>
              <a:t>, multiple specialized agents collaborate to turn historical match evidence into strategy insights.</a:t>
            </a:r>
          </a:p>
          <a:p>
            <a:r>
              <a:rPr lang="en-US"/>
              <a:t>Each agent performs a specific role — retrieving historical evidence, analyzing the opponent, generating strategic recommendations and explaining the reasoning — while working together. This </a:t>
            </a:r>
            <a:r>
              <a:rPr lang="en-US" b="1"/>
              <a:t>multi-agent approach</a:t>
            </a:r>
            <a:r>
              <a:rPr lang="en-US"/>
              <a:t> keeps the system modular and focused.</a:t>
            </a:r>
          </a:p>
          <a:p>
            <a:r>
              <a:rPr lang="en-US"/>
              <a:t>The system is </a:t>
            </a:r>
            <a:r>
              <a:rPr lang="en-US" b="1"/>
              <a:t>context-aware</a:t>
            </a:r>
            <a:r>
              <a:rPr lang="en-US"/>
              <a:t>, using the selected team, opponent and match situation, and </a:t>
            </a:r>
            <a:r>
              <a:rPr lang="en-US" b="1"/>
              <a:t>explainable</a:t>
            </a:r>
            <a:r>
              <a:rPr lang="en-US"/>
              <a:t>, since the Insight Explanation Agent presents the supporting historical evidence.</a:t>
            </a:r>
          </a:p>
          <a:p>
            <a:r>
              <a:rPr lang="en-US"/>
              <a:t>Additionally, agents pass their outputs to one another, enabling better decisions than a single model call.</a:t>
            </a:r>
          </a:p>
          <a:p>
            <a:r>
              <a:rPr lang="en-US"/>
              <a:t>Overall, Agentic AI makes the system </a:t>
            </a:r>
            <a:r>
              <a:rPr lang="en-US" b="1"/>
              <a:t>data-driven, modular and strategy-oriented</a:t>
            </a:r>
            <a:r>
              <a:rPr lang="en-US"/>
              <a:t>, acting like a smart digital cricket analyst for tactical preparation.</a:t>
            </a:r>
          </a:p>
        </p:txBody>
      </p:sp>
    </p:spTree>
    <p:extLst>
      <p:ext uri="{BB962C8B-B14F-4D97-AF65-F5344CB8AC3E}">
        <p14:creationId xmlns:p14="http://schemas.microsoft.com/office/powerpoint/2010/main" val="4000696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793192" y="3415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Token Usage </a:t>
            </a:r>
            <a:endParaRPr sz="2400" b="1">
              <a:sym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D576A0-BF64-32B6-1E59-49AA2C59C5CE}"/>
              </a:ext>
            </a:extLst>
          </p:cNvPr>
          <p:cNvSpPr txBox="1"/>
          <p:nvPr/>
        </p:nvSpPr>
        <p:spPr>
          <a:xfrm>
            <a:off x="897392" y="1042133"/>
            <a:ext cx="43711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[Add your actual token usage here]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519E4B-A573-9748-8120-A8B52AF1E3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874" y="2451181"/>
            <a:ext cx="5095875" cy="2857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C71F7B4-FF5A-63D7-D957-5B960BB16A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9602" y="2451181"/>
            <a:ext cx="5724524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417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1863F011-FD59-2782-3732-0E326317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78DA0257-5105-834D-150D-50732C7248D1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B0837B-F1E2-428F-EF5A-7DD07CBA6C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598"/>
          <a:stretch>
            <a:fillRect/>
          </a:stretch>
        </p:blipFill>
        <p:spPr>
          <a:xfrm>
            <a:off x="514063" y="905258"/>
            <a:ext cx="11163873" cy="571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961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A1254DC3-8448-76A3-8631-9484D98C8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A5DD5E73-E4F8-AB1C-5A5A-D4EBAD6FD1B8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789AEE-46F1-5190-861B-FC4AC9E65D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762"/>
          <a:stretch>
            <a:fillRect/>
          </a:stretch>
        </p:blipFill>
        <p:spPr>
          <a:xfrm>
            <a:off x="551917" y="1014368"/>
            <a:ext cx="10493347" cy="5288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0923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E3C4AEBB-2963-4EEE-D8ED-E3B5ABCFF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67AD5A0A-54A3-BC96-26BB-9C49B61555EC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8C4213-D4B2-A93F-B253-5FAD2B5086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575"/>
          <a:stretch>
            <a:fillRect/>
          </a:stretch>
        </p:blipFill>
        <p:spPr>
          <a:xfrm>
            <a:off x="804493" y="727587"/>
            <a:ext cx="10583014" cy="6017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9071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Novelty and Uniqueness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207008"/>
            <a:ext cx="11301984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/>
              <a:t>The proposed IPL Game Strategy Advisor stands out by combining </a:t>
            </a:r>
            <a:r>
              <a:rPr lang="en-IN" sz="1800" b="1"/>
              <a:t>Agentic AI, RAG, and real IPL data</a:t>
            </a:r>
            <a:r>
              <a:rPr lang="en-IN" sz="1800"/>
              <a:t> into a single intelligent system.</a:t>
            </a:r>
          </a:p>
          <a:p>
            <a:endParaRPr lang="en-IN" sz="1800"/>
          </a:p>
          <a:p>
            <a:r>
              <a:rPr lang="en-IN" sz="1800" b="1"/>
              <a:t>Multi-Agent Cricket Intelligence</a:t>
            </a:r>
            <a:r>
              <a:rPr lang="en-IN" sz="1800" b="0"/>
              <a:t> – Specialized agents collaborate instead of a single chatbot.</a:t>
            </a:r>
          </a:p>
          <a:p>
            <a:r>
              <a:rPr lang="en-IN" sz="1800" b="1"/>
              <a:t>Real IPL Data</a:t>
            </a:r>
            <a:r>
              <a:rPr lang="en-IN" sz="1800" b="0"/>
              <a:t> – Built on real Cricsheet IPL ball-by-ball data.</a:t>
            </a:r>
          </a:p>
          <a:p>
            <a:r>
              <a:rPr lang="en-IN" sz="1800" b="1"/>
              <a:t>RAG-Based Tactical Analysis</a:t>
            </a:r>
            <a:r>
              <a:rPr lang="en-IN" sz="1800" b="0"/>
              <a:t> – Historical evidence is retrieved before recommendations are generated.</a:t>
            </a:r>
          </a:p>
          <a:p>
            <a:r>
              <a:rPr lang="en-IN" sz="1800" b="1"/>
              <a:t>Opponent-Specific Strategy</a:t>
            </a:r>
            <a:r>
              <a:rPr lang="en-IN" sz="1800" b="0"/>
              <a:t> – Analyzes the selected opponent instead of giving generic advice.</a:t>
            </a:r>
          </a:p>
          <a:p>
            <a:r>
              <a:rPr lang="en-IN" sz="1800" b="1"/>
              <a:t>Explainable Recommendations</a:t>
            </a:r>
            <a:r>
              <a:rPr lang="en-IN" sz="1800" b="0"/>
              <a:t> – The Insight Explanation Agent shows the reasoning and evidence.</a:t>
            </a:r>
          </a:p>
          <a:p>
            <a:r>
              <a:rPr lang="en-IN" sz="1800" b="1"/>
              <a:t>What-If Tactical Simulation</a:t>
            </a:r>
            <a:r>
              <a:rPr lang="en-IN" sz="1800" b="0"/>
              <a:t> – Explore and compare hypothetical tactical scenarios.</a:t>
            </a:r>
          </a:p>
          <a:p>
            <a:r>
              <a:rPr lang="en-IN" sz="1800" b="1"/>
              <a:t>Situation-Based Strategic Insights</a:t>
            </a:r>
            <a:r>
              <a:rPr lang="en-IN" sz="1800" b="0"/>
              <a:t> – The Live Event engine gives guidance for match situations.</a:t>
            </a:r>
          </a:p>
          <a:p>
            <a:r>
              <a:rPr lang="en-IN" sz="1800" b="1"/>
              <a:t>IBM Granite + Agentic AI Architecture</a:t>
            </a:r>
            <a:r>
              <a:rPr lang="en-IN" sz="1800" b="0"/>
              <a:t> – Built with IBM Bob, watsonx.ai and Granite models.</a:t>
            </a:r>
          </a:p>
          <a:p>
            <a:endParaRPr lang="en-IN" sz="1800"/>
          </a:p>
          <a:p>
            <a:r>
              <a:rPr lang="en-IN" sz="1800"/>
              <a:t>This makes the solution a </a:t>
            </a:r>
            <a:r>
              <a:rPr lang="en-IN" sz="1800" b="1"/>
              <a:t>data-driven, explainable cricket strategy assistant</a:t>
            </a:r>
            <a:r>
              <a:rPr lang="en-IN" sz="1800"/>
              <a:t>, not just a statistics viewer.</a:t>
            </a:r>
            <a:endParaRPr lang="en-US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52822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Git Hub Link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GitHub repository URL –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https://github.com/Dilip813/IPL-AI-Game-Strategy-Advisor-</a:t>
            </a:r>
            <a:endParaRPr lang="en-US" sz="1850" b="0" i="0" u="none" strike="noStrike" cap="none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repository contains:  </a:t>
            </a:r>
            <a:r>
              <a:rPr lang="en-US" sz="1850" b="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 Backend files  2) Frontend files  3) IPL-related project files and README  4) Problem statement PDF  5) Final presentation PPT  6) Relevant IBM Bob / agent files</a:t>
            </a:r>
          </a:p>
        </p:txBody>
      </p:sp>
    </p:spTree>
    <p:extLst>
      <p:ext uri="{BB962C8B-B14F-4D97-AF65-F5344CB8AC3E}">
        <p14:creationId xmlns:p14="http://schemas.microsoft.com/office/powerpoint/2010/main" val="40404122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Future Scope 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1221715"/>
            <a:ext cx="9214580" cy="5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1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1.Live IPL Data Integration – </a:t>
            </a: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 real-time match feeds for continuously updated insights.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1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2.Advanced Player Analytics – </a:t>
            </a: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deeper player-level prediction and matchup analysis.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1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3.Win Probability Prediction – </a:t>
            </a: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predictive models for match and situation-level probabilities.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1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4.Computer Vision – </a:t>
            </a: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video/vision models for field-position and player-movement analysis.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1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5.Voice-Based Strategy Assistant – </a:t>
            </a: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Allow users to interact with the strategy advisor using voice.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1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6.Multilingual Support – </a:t>
            </a: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 strategy insights in multiple languages.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1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7.Advanced Tactical Simulation – </a:t>
            </a: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more detailed scenario-based strategic simulations.</a:t>
            </a:r>
          </a:p>
        </p:txBody>
      </p:sp>
    </p:spTree>
    <p:extLst>
      <p:ext uri="{BB962C8B-B14F-4D97-AF65-F5344CB8AC3E}">
        <p14:creationId xmlns:p14="http://schemas.microsoft.com/office/powerpoint/2010/main" val="7400284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37D5EE-379B-FDC5-0854-8AC81D31FADF}"/>
              </a:ext>
            </a:extLst>
          </p:cNvPr>
          <p:cNvSpPr txBox="1"/>
          <p:nvPr/>
        </p:nvSpPr>
        <p:spPr>
          <a:xfrm>
            <a:off x="552048" y="690061"/>
            <a:ext cx="638996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/>
              <a:t>Credly Certificate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B39675-5833-4632-A1CE-253A878BD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361" y="1367169"/>
            <a:ext cx="8345053" cy="500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4827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D36B1A-26C2-CD55-1032-4CB5E4EDF305}"/>
              </a:ext>
            </a:extLst>
          </p:cNvPr>
          <p:cNvSpPr txBox="1"/>
          <p:nvPr/>
        </p:nvSpPr>
        <p:spPr>
          <a:xfrm>
            <a:off x="496843" y="800470"/>
            <a:ext cx="54376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IBM Bob Certificate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37C4AA6-D701-B919-6D1E-B280AC420D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692" y="1200580"/>
            <a:ext cx="10112616" cy="5390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1777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0137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1255</Words>
  <Application>Microsoft Office PowerPoint</Application>
  <PresentationFormat>Widescreen</PresentationFormat>
  <Paragraphs>134</Paragraphs>
  <Slides>20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Dilip Seervi</cp:lastModifiedBy>
  <cp:revision>2</cp:revision>
  <dcterms:created xsi:type="dcterms:W3CDTF">2025-07-08T05:06:56Z</dcterms:created>
  <dcterms:modified xsi:type="dcterms:W3CDTF">2026-09-29T07:12:46Z</dcterms:modified>
</cp:coreProperties>
</file>